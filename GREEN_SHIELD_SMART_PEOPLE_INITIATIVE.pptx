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52B788">
              <a:alpha val="30000"/>
            </a:srgbClr>
          </a:solidFill>
          <a:ln w="12700">
            <a:solidFill>
              <a:srgbClr val="52B788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365760"/>
            <a:ext cx="1645920" cy="1645920"/>
          </a:xfrm>
          <a:prstGeom prst="ellipse">
            <a:avLst/>
          </a:prstGeom>
          <a:solidFill>
            <a:srgbClr val="F4C430">
              <a:alpha val="80000"/>
            </a:srgbClr>
          </a:solidFill>
          <a:ln w="12700">
            <a:solidFill>
              <a:srgbClr val="F4C43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6912" y="576072"/>
            <a:ext cx="777240" cy="7772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82296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4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 SHIELD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457200" y="1600200"/>
            <a:ext cx="5943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spc="200" kern="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PEOPLE INITIATIVE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4114800" cy="36576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2468880"/>
            <a:ext cx="5943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Sanatani Knowledge-Based Self-Sustaining Village Communities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457200" y="2971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9E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Pilot Policy White Paper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57200" y="3749040"/>
            <a:ext cx="4114800" cy="9144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" y="3840480"/>
            <a:ext cx="3840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Kallol Chakrabarti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Independent Researcher  |  ORCID: 0009-0007-4971-8936</a:t>
            </a:r>
            <a:endParaRPr lang="en-US" sz="1300" dirty="0"/>
          </a:p>
          <a:p>
            <a:pPr indent="0" marL="0">
              <a:buNone/>
            </a:pPr>
            <a:r>
              <a:rPr lang="en-US" sz="1000" dirty="0">
                <a:solidFill>
                  <a:srgbClr val="F9E4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|  March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023360" cy="35661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08760"/>
            <a:ext cx="3474720" cy="2743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00200"/>
            <a:ext cx="3657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Shield Smart People Initiative proposes a one-year pilot to establish a self-sustaining rural community model rooted in Sanatani knowledge systems — blending Dharmic principles, Gurukul education, local economy, and ecological stewardship into a single measurable framework.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2148840" cy="1508760"/>
          </a:xfrm>
          <a:prstGeom prst="rect">
            <a:avLst/>
          </a:prstGeom>
          <a:solidFill>
            <a:srgbClr val="FAF6ED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914400"/>
            <a:ext cx="214884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6592" y="950976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10912" y="9509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Dharmic Principles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73168" y="12984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activities aligned with Sanatani values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2606040"/>
            <a:ext cx="2148840" cy="1508760"/>
          </a:xfrm>
          <a:prstGeom prst="rect">
            <a:avLst/>
          </a:prstGeom>
          <a:solidFill>
            <a:srgbClr val="FAF6ED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2606040"/>
            <a:ext cx="214884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2642616"/>
            <a:ext cx="219456" cy="21945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10912" y="2642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Gurukul Education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773168" y="29900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knowledge-transfer system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949440" y="914400"/>
            <a:ext cx="2148840" cy="1508760"/>
          </a:xfrm>
          <a:prstGeom prst="rect">
            <a:avLst/>
          </a:prstGeom>
          <a:solidFill>
            <a:srgbClr val="FAF6ED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949440" y="914400"/>
            <a:ext cx="214884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2592" y="950976"/>
            <a:ext cx="219456" cy="21945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296912" y="95097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Economy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7059168" y="129844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 exchange &amp; participation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949440" y="2606040"/>
            <a:ext cx="2148840" cy="1508760"/>
          </a:xfrm>
          <a:prstGeom prst="rect">
            <a:avLst/>
          </a:prstGeom>
          <a:solidFill>
            <a:srgbClr val="FAF6ED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49440" y="2606040"/>
            <a:ext cx="2148840" cy="292608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592" y="2642616"/>
            <a:ext cx="219456" cy="219456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96912" y="2642616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Ecological Stewardship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7059168" y="2990088"/>
            <a:ext cx="1920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 at the core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320040" y="4645152"/>
            <a:ext cx="2011680" cy="384048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320040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Employment</a:t>
            </a:r>
            <a:endParaRPr lang="en-US" sz="1050" dirty="0"/>
          </a:p>
        </p:txBody>
      </p:sp>
      <p:sp>
        <p:nvSpPr>
          <p:cNvPr id="30" name="Shape 24"/>
          <p:cNvSpPr/>
          <p:nvPr/>
        </p:nvSpPr>
        <p:spPr>
          <a:xfrm>
            <a:off x="2478024" y="4645152"/>
            <a:ext cx="2011680" cy="384048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2478024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 Boost</a:t>
            </a:r>
            <a:endParaRPr lang="en-US" sz="1050" dirty="0"/>
          </a:p>
        </p:txBody>
      </p:sp>
      <p:sp>
        <p:nvSpPr>
          <p:cNvPr id="32" name="Shape 26"/>
          <p:cNvSpPr/>
          <p:nvPr/>
        </p:nvSpPr>
        <p:spPr>
          <a:xfrm>
            <a:off x="4636008" y="4645152"/>
            <a:ext cx="2011680" cy="384048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4636008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Crime Rate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6793992" y="4645152"/>
            <a:ext cx="2011680" cy="384048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793992" y="464515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Cohesion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154680" y="1463040"/>
            <a:ext cx="2834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8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
</a:t>
            </a:r>
            <a:pPr algn="ctr" indent="0" marL="0">
              <a:buNone/>
            </a:pPr>
            <a:r>
              <a:rPr lang="en-US" sz="1200" b="1" dirty="0">
                <a:solidFill>
                  <a:srgbClr val="E98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PHILOSOPHY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Sanatani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Knowledge-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Driven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377440" cy="12801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210312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Social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Organization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84048" y="24688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life guided by Sanatani traditions &amp; Dharmic values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3291840"/>
            <a:ext cx="2377440" cy="12801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356616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22960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84048" y="39319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Gurukul-based inter-generational learning systems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675120" y="1828800"/>
            <a:ext cx="2377440" cy="12801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4848" y="210312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223760" y="193852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784848" y="246888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principles driving local economic participation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6675120" y="3291840"/>
            <a:ext cx="2377440" cy="12801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356616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223760" y="3401568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Balance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6784848" y="3931920"/>
            <a:ext cx="21762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stewardship measured by Bio-Indicators</a:t>
            </a:r>
            <a:endParaRPr lang="en-US" sz="950" dirty="0"/>
          </a:p>
        </p:txBody>
      </p:sp>
      <p:sp>
        <p:nvSpPr>
          <p:cNvPr id="22" name="Shape 16"/>
          <p:cNvSpPr/>
          <p:nvPr/>
        </p:nvSpPr>
        <p:spPr>
          <a:xfrm>
            <a:off x="2651760" y="2286000"/>
            <a:ext cx="365760" cy="36576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2651760" y="3749040"/>
            <a:ext cx="365760" cy="36576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126480" y="2286000"/>
            <a:ext cx="548640" cy="36576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126480" y="3749040"/>
            <a:ext cx="548640" cy="36576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C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activities are aligned with Dharmic practices — treated as measurable development tools within a modern policy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CONDITIONS FOR PILOT VILLAGES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685800"/>
            <a:ext cx="91440" cy="445770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8600" y="841248"/>
            <a:ext cx="8686800" cy="749808"/>
          </a:xfrm>
          <a:prstGeom prst="rect">
            <a:avLst/>
          </a:prstGeom>
          <a:solidFill>
            <a:srgbClr val="FAF6ED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987552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056" y="1042416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87552" y="932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Village Selection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87552" y="1207008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strong cultural alignment with Sanatani traditions and readiness for community-wide participation.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691640"/>
            <a:ext cx="8686800" cy="749808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4048" y="1837944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" y="189280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1783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Life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987552" y="2057400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 guided by Sanatani traditions and Dharmic values — social structures rooted in cultural heritage.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228600" y="2542032"/>
            <a:ext cx="8686800" cy="749808"/>
          </a:xfrm>
          <a:prstGeom prst="rect">
            <a:avLst/>
          </a:prstGeom>
          <a:solidFill>
            <a:srgbClr val="FAF6ED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84048" y="2688336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" y="274320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87552" y="263347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Education System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87552" y="2907792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Gurukul-based education delivering inter-generational knowledge transfer with measurable learning outcomes.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228600" y="3392424"/>
            <a:ext cx="8686800" cy="749808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84048" y="3538728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" y="3593592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87552" y="348386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 Activities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87552" y="3758184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production and trade aligned with traditional principles; Karma Economy for internal value exchange.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228600" y="4242816"/>
            <a:ext cx="8686800" cy="749808"/>
          </a:xfrm>
          <a:prstGeom prst="rect">
            <a:avLst/>
          </a:prstGeom>
          <a:solidFill>
            <a:srgbClr val="FAF6ED"/>
          </a:solidFill>
          <a:ln w="12700">
            <a:solidFill>
              <a:srgbClr val="E5DFD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384048" y="4389120"/>
            <a:ext cx="457200" cy="457200"/>
          </a:xfrm>
          <a:prstGeom prst="ellipse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" y="444398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87552" y="43342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Timeline &amp; Metrics</a:t>
            </a:r>
            <a:endParaRPr lang="en-US" sz="1300" dirty="0"/>
          </a:p>
        </p:txBody>
      </p:sp>
      <p:sp>
        <p:nvSpPr>
          <p:cNvPr id="29" name="Text 22"/>
          <p:cNvSpPr/>
          <p:nvPr/>
        </p:nvSpPr>
        <p:spPr>
          <a:xfrm>
            <a:off x="987552" y="4608576"/>
            <a:ext cx="7772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One-year pilot with monthly monitoring — success measured by Employment, Productivity, and Crime Rate indices.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INTEGRATED INNOVATION LAYER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923544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29768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Living Archive Digital System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29768" y="17647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preservation of Sanatani knowledge — accessible to community members across generations.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64408" y="868680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64408" y="868680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64408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923544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374136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Karma Economy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3374136" y="17647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value-exchange system aligned with traditional principles of fair contribution and reward.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08776" y="868680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08776" y="868680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08776" y="8686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5704" y="923544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18504" y="132588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Bio-Indicator Dashboard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6318504" y="1764792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ecological monitoring measuring soil health, water quality, and biodiversity balance.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20040" y="2862072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20040" y="2862072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320040" y="2862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" y="2916936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29768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Knowledge Transfer Chains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429768" y="375818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inter-generational pathways ensuring continuity of traditional wisdom and practices.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264408" y="2862072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264408" y="2862072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3264408" y="2862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3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31336" y="2916936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3374136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Internal Benchmarking</a:t>
            </a:r>
            <a:endParaRPr lang="en-US" sz="1150" dirty="0"/>
          </a:p>
        </p:txBody>
      </p:sp>
      <p:sp>
        <p:nvSpPr>
          <p:cNvPr id="33" name="Text 26"/>
          <p:cNvSpPr/>
          <p:nvPr/>
        </p:nvSpPr>
        <p:spPr>
          <a:xfrm>
            <a:off x="3374136" y="375818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 tracking community outcomes against baseline and peer village benchmarks.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208776" y="2862072"/>
            <a:ext cx="2743200" cy="178308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6208776" y="2862072"/>
            <a:ext cx="502920" cy="41148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208776" y="2862072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13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5704" y="2916936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318504" y="3319272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Continuity &amp; Transition Rituals</a:t>
            </a:r>
            <a:endParaRPr lang="en-US" sz="1150" dirty="0"/>
          </a:p>
        </p:txBody>
      </p:sp>
      <p:sp>
        <p:nvSpPr>
          <p:cNvPr id="39" name="Text 31"/>
          <p:cNvSpPr/>
          <p:nvPr/>
        </p:nvSpPr>
        <p:spPr>
          <a:xfrm>
            <a:off x="6318504" y="3758184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ceremonies and practices ensuring smooth transitions and community cohesion over time.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PLAN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8229600" cy="7315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822960"/>
            <a:ext cx="1920240" cy="15087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22960"/>
            <a:ext cx="1920240" cy="36576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ONBOARDING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5727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1–2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097280" y="2304288"/>
            <a:ext cx="402336" cy="402336"/>
          </a:xfrm>
          <a:prstGeom prst="ellipse">
            <a:avLst/>
          </a:prstGeom>
          <a:solidFill>
            <a:srgbClr val="E9881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1920240" cy="2240280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278892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548640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Village selection, cultural assessment &amp; stakeholder onboarding. Establish community agreements and baseline data collection.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2651760" y="822960"/>
            <a:ext cx="1920240" cy="15087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651760" y="822960"/>
            <a:ext cx="1920240" cy="36576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65176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724912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2724912" y="15727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3–5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291840" y="2304288"/>
            <a:ext cx="402336" cy="402336"/>
          </a:xfrm>
          <a:prstGeom prst="ellipse">
            <a:avLst/>
          </a:prstGeom>
          <a:solidFill>
            <a:srgbClr val="E9881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29184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651760" y="2651760"/>
            <a:ext cx="1920240" cy="2240280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788920"/>
            <a:ext cx="457200" cy="45720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2743200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rollout across education (Gurukul), economy (Karma), and ecology (Bio-Dashboard) pillars simultaneously.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4846320" y="822960"/>
            <a:ext cx="1920240" cy="15087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846320" y="822960"/>
            <a:ext cx="1920240" cy="36576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84632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19472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4919472" y="15727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6–11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5486400" y="2304288"/>
            <a:ext cx="402336" cy="402336"/>
          </a:xfrm>
          <a:prstGeom prst="ellipse">
            <a:avLst/>
          </a:prstGeom>
          <a:solidFill>
            <a:srgbClr val="E9881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48640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4846320" y="2651760"/>
            <a:ext cx="1920240" cy="2240280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788920"/>
            <a:ext cx="457200" cy="457200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937760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evaluation cycles. KPI tracking, community feedback loops, adaptive management and continuous improvement.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040880" y="822960"/>
            <a:ext cx="1920240" cy="150876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7040880" y="822960"/>
            <a:ext cx="1920240" cy="36576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040880" y="8229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4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7114032" y="123444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ASSESSMENT</a:t>
            </a:r>
            <a:endParaRPr lang="en-US" sz="1200" dirty="0"/>
          </a:p>
        </p:txBody>
      </p:sp>
      <p:sp>
        <p:nvSpPr>
          <p:cNvPr id="39" name="Text 34"/>
          <p:cNvSpPr/>
          <p:nvPr/>
        </p:nvSpPr>
        <p:spPr>
          <a:xfrm>
            <a:off x="7114032" y="1572768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12</a:t>
            </a:r>
            <a:endParaRPr lang="en-US" sz="950" dirty="0"/>
          </a:p>
        </p:txBody>
      </p:sp>
      <p:sp>
        <p:nvSpPr>
          <p:cNvPr id="40" name="Shape 35"/>
          <p:cNvSpPr/>
          <p:nvPr/>
        </p:nvSpPr>
        <p:spPr>
          <a:xfrm>
            <a:off x="7680960" y="2304288"/>
            <a:ext cx="402336" cy="402336"/>
          </a:xfrm>
          <a:prstGeom prst="ellipse">
            <a:avLst/>
          </a:prstGeom>
          <a:solidFill>
            <a:srgbClr val="E9881D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7680960" y="23042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200" dirty="0"/>
          </a:p>
        </p:txBody>
      </p:sp>
      <p:sp>
        <p:nvSpPr>
          <p:cNvPr id="42" name="Shape 37"/>
          <p:cNvSpPr/>
          <p:nvPr/>
        </p:nvSpPr>
        <p:spPr>
          <a:xfrm>
            <a:off x="7040880" y="2651760"/>
            <a:ext cx="1920240" cy="2240280"/>
          </a:xfrm>
          <a:prstGeom prst="rect">
            <a:avLst/>
          </a:prstGeom>
          <a:solidFill>
            <a:srgbClr val="F0EDE4"/>
          </a:solidFill>
          <a:ln w="12700">
            <a:solidFill>
              <a:srgbClr val="DDD8CA"/>
            </a:solidFill>
            <a:prstDash val="solid"/>
          </a:ln>
        </p:spPr>
      </p:sp>
      <p:pic>
        <p:nvPicPr>
          <p:cNvPr id="4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2788920"/>
            <a:ext cx="457200" cy="457200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7132320" y="3337560"/>
            <a:ext cx="1737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comprehensive assessment, full reporting, impact documentation, and preparation of scale-up recommendations.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B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2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&amp; KEY PERFORMANCE INDICATORS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713232"/>
          </a:xfrm>
          <a:prstGeom prst="rect">
            <a:avLst/>
          </a:prstGeom>
          <a:solidFill>
            <a:srgbClr val="FAF6ED"/>
          </a:solidFill>
          <a:ln w="12700">
            <a:solidFill>
              <a:srgbClr val="E0DAC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841248"/>
            <a:ext cx="109728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969264"/>
            <a:ext cx="457200" cy="45720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1024128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Employment Coverage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097280" y="124358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employment tracking across all skill verticals within the village ecosystem. Zero unemployment benchmark.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132320" y="978408"/>
            <a:ext cx="1554480" cy="43891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7132320" y="97840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0EDE4"/>
          </a:solidFill>
          <a:ln w="12700">
            <a:solidFill>
              <a:srgbClr val="D5D0C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74320" y="1664208"/>
            <a:ext cx="109728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1792224"/>
            <a:ext cx="457200" cy="45720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1847088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9728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Productivity Index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1097280" y="20665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metric of economic output, knowledge activities, and ecological contribution per household unit.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7132320" y="1801368"/>
            <a:ext cx="1554480" cy="43891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132320" y="180136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↑ 30%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274320" y="2487168"/>
            <a:ext cx="8595360" cy="713232"/>
          </a:xfrm>
          <a:prstGeom prst="rect">
            <a:avLst/>
          </a:prstGeom>
          <a:solidFill>
            <a:srgbClr val="FAF6ED"/>
          </a:solidFill>
          <a:ln w="12700">
            <a:solidFill>
              <a:srgbClr val="E0DAC8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74320" y="2487168"/>
            <a:ext cx="109728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2920" y="2615184"/>
            <a:ext cx="457200" cy="45720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670048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0972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Community Participation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1097280" y="288950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Levels of engagement in village councils, Gurukul sessions, and community economic exchanges.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7132320" y="2624328"/>
            <a:ext cx="1554480" cy="43891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Text 22"/>
          <p:cNvSpPr/>
          <p:nvPr/>
        </p:nvSpPr>
        <p:spPr>
          <a:xfrm>
            <a:off x="7132320" y="262432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85%+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274320" y="3310128"/>
            <a:ext cx="8595360" cy="713232"/>
          </a:xfrm>
          <a:prstGeom prst="rect">
            <a:avLst/>
          </a:prstGeom>
          <a:solidFill>
            <a:srgbClr val="F0EDE4"/>
          </a:solidFill>
          <a:ln w="12700">
            <a:solidFill>
              <a:srgbClr val="D5D0C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274320" y="3310128"/>
            <a:ext cx="109728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02920" y="3438144"/>
            <a:ext cx="457200" cy="45720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493008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09728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Ecological Indicators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1097280" y="371246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health monitoring via Bio-Indicator Dashboard — soil, water, biodiversity, and air quality.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132320" y="3447288"/>
            <a:ext cx="1554480" cy="43891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5" name="Text 29"/>
          <p:cNvSpPr/>
          <p:nvPr/>
        </p:nvSpPr>
        <p:spPr>
          <a:xfrm>
            <a:off x="7132320" y="344728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</a:t>
            </a: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274320" y="4133088"/>
            <a:ext cx="8595360" cy="713232"/>
          </a:xfrm>
          <a:prstGeom prst="rect">
            <a:avLst/>
          </a:prstGeom>
          <a:solidFill>
            <a:srgbClr val="FAF6ED"/>
          </a:solidFill>
          <a:ln w="12700">
            <a:solidFill>
              <a:srgbClr val="E0DAC8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274320" y="4133088"/>
            <a:ext cx="109728" cy="713232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502920" y="4261104"/>
            <a:ext cx="457200" cy="457200"/>
          </a:xfrm>
          <a:prstGeom prst="ellipse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" y="4315968"/>
            <a:ext cx="320040" cy="32004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097280" y="42062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Crime / Dispute Rate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1097280" y="453542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C2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harmony tracking via panchayat records, dispute resolution logs, and community trust surveys.</a:t>
            </a:r>
            <a:endParaRPr lang="en-US" sz="1050" dirty="0"/>
          </a:p>
        </p:txBody>
      </p:sp>
      <p:sp>
        <p:nvSpPr>
          <p:cNvPr id="42" name="Shape 35"/>
          <p:cNvSpPr/>
          <p:nvPr/>
        </p:nvSpPr>
        <p:spPr>
          <a:xfrm>
            <a:off x="7132320" y="4270248"/>
            <a:ext cx="1554480" cy="43891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43" name="Text 36"/>
          <p:cNvSpPr/>
          <p:nvPr/>
        </p:nvSpPr>
        <p:spPr>
          <a:xfrm>
            <a:off x="7132320" y="4270248"/>
            <a:ext cx="1554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2%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EXPECTED OUTCOMES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22960"/>
            <a:ext cx="2743200" cy="4114800"/>
          </a:xfrm>
          <a:prstGeom prst="rect">
            <a:avLst/>
          </a:prstGeom>
          <a:solidFill>
            <a:srgbClr val="2D6A4F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22960"/>
            <a:ext cx="2743200" cy="640080"/>
          </a:xfrm>
          <a:prstGeom prst="rect">
            <a:avLst/>
          </a:prstGeom>
          <a:solidFill>
            <a:srgbClr val="1A3C2B">
              <a:alpha val="70000"/>
            </a:srgbClr>
          </a:solidFill>
          <a:ln w="12700">
            <a:solidFill>
              <a:srgbClr val="1A3C2B">
                <a:alpha val="70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9768" y="896112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896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881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ECONOMIC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457200" y="1554480"/>
            <a:ext cx="2468880" cy="2743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2920" y="1691640"/>
            <a:ext cx="164592" cy="164592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9808" y="1664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employment within the ecosystem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502920" y="2404872"/>
            <a:ext cx="164592" cy="164592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Increased household productivity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3118104"/>
            <a:ext cx="164592" cy="164592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9808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Self-sufficient local trade circuits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02920" y="3831336"/>
            <a:ext cx="164592" cy="164592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49808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dependency on external markets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3246120" y="822960"/>
            <a:ext cx="2743200" cy="411480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3246120" y="822960"/>
            <a:ext cx="2743200" cy="640080"/>
          </a:xfrm>
          <a:prstGeom prst="rect">
            <a:avLst/>
          </a:prstGeom>
          <a:solidFill>
            <a:srgbClr val="1A3C2B">
              <a:alpha val="70000"/>
            </a:srgbClr>
          </a:solidFill>
          <a:ln w="12700">
            <a:solidFill>
              <a:srgbClr val="1A3C2B">
                <a:alpha val="7000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848" y="896112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886200" y="896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2B7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CULTURAL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3383280" y="1554480"/>
            <a:ext cx="246888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429000" y="1691640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675888" y="1664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Preservation of Sanatani knowledge</a:t>
            </a:r>
            <a:endParaRPr lang="en-US" sz="1100" dirty="0"/>
          </a:p>
        </p:txBody>
      </p:sp>
      <p:sp>
        <p:nvSpPr>
          <p:cNvPr id="24" name="Shape 20"/>
          <p:cNvSpPr/>
          <p:nvPr/>
        </p:nvSpPr>
        <p:spPr>
          <a:xfrm>
            <a:off x="3429000" y="2404872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675888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inter-generational bonds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429000" y="3118104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3675888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Gurukul graduates with dual competencies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3429000" y="3831336"/>
            <a:ext cx="164592" cy="164592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3675888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Living Archive of traditions &amp; practices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6172200" y="822960"/>
            <a:ext cx="2743200" cy="4114800"/>
          </a:xfrm>
          <a:prstGeom prst="rect">
            <a:avLst/>
          </a:prstGeom>
          <a:solidFill>
            <a:srgbClr val="2D6A4F"/>
          </a:solidFill>
          <a:ln w="12700">
            <a:solidFill>
              <a:srgbClr val="F4C43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172200" y="822960"/>
            <a:ext cx="2743200" cy="640080"/>
          </a:xfrm>
          <a:prstGeom prst="rect">
            <a:avLst/>
          </a:prstGeom>
          <a:solidFill>
            <a:srgbClr val="1A3C2B">
              <a:alpha val="70000"/>
            </a:srgbClr>
          </a:solidFill>
          <a:ln w="12700">
            <a:solidFill>
              <a:srgbClr val="1A3C2B">
                <a:alpha val="70000"/>
              </a:srgbClr>
            </a:solidFill>
            <a:prstDash val="solid"/>
          </a:ln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896112"/>
            <a:ext cx="457200" cy="4572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812280" y="8961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ENVIRONMENTAL</a:t>
            </a:r>
            <a:endParaRPr lang="en-US" sz="1500" dirty="0"/>
          </a:p>
        </p:txBody>
      </p:sp>
      <p:sp>
        <p:nvSpPr>
          <p:cNvPr id="34" name="Shape 29"/>
          <p:cNvSpPr/>
          <p:nvPr/>
        </p:nvSpPr>
        <p:spPr>
          <a:xfrm>
            <a:off x="6309360" y="1554480"/>
            <a:ext cx="2468880" cy="27432"/>
          </a:xfrm>
          <a:prstGeom prst="rect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6355080" y="1691640"/>
            <a:ext cx="164592" cy="16459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6601968" y="1664208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ecological balance &amp; health</a:t>
            </a:r>
            <a:endParaRPr lang="en-US" sz="1100" dirty="0"/>
          </a:p>
        </p:txBody>
      </p:sp>
      <p:sp>
        <p:nvSpPr>
          <p:cNvPr id="37" name="Shape 32"/>
          <p:cNvSpPr/>
          <p:nvPr/>
        </p:nvSpPr>
        <p:spPr>
          <a:xfrm>
            <a:off x="6355080" y="2404872"/>
            <a:ext cx="164592" cy="16459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6601968" y="237744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Bio-indicators in green zone</a:t>
            </a:r>
            <a:endParaRPr lang="en-US" sz="1100" dirty="0"/>
          </a:p>
        </p:txBody>
      </p:sp>
      <p:sp>
        <p:nvSpPr>
          <p:cNvPr id="39" name="Shape 34"/>
          <p:cNvSpPr/>
          <p:nvPr/>
        </p:nvSpPr>
        <p:spPr>
          <a:xfrm>
            <a:off x="6355080" y="3118104"/>
            <a:ext cx="164592" cy="16459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6601968" y="309067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Community-led conservation practices</a:t>
            </a:r>
            <a:endParaRPr lang="en-US" sz="1100" dirty="0"/>
          </a:p>
        </p:txBody>
      </p:sp>
      <p:sp>
        <p:nvSpPr>
          <p:cNvPr id="41" name="Shape 36"/>
          <p:cNvSpPr/>
          <p:nvPr/>
        </p:nvSpPr>
        <p:spPr>
          <a:xfrm>
            <a:off x="6355080" y="3831336"/>
            <a:ext cx="164592" cy="164592"/>
          </a:xfrm>
          <a:prstGeom prst="ellipse">
            <a:avLst/>
          </a:prstGeom>
          <a:solidFill>
            <a:srgbClr val="F4C430"/>
          </a:solidFill>
          <a:ln w="12700">
            <a:solidFill>
              <a:srgbClr val="F4C43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6601968" y="380390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ecological footprint of village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9E4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culturally cohesive village ecosystem with fully measurable development outcomes.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 STRATEGY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3977640"/>
          </a:xfrm>
          <a:prstGeom prst="rect">
            <a:avLst/>
          </a:prstGeom>
          <a:solidFill>
            <a:srgbClr val="1A3C2B"/>
          </a:solidFill>
          <a:ln w="12700">
            <a:solidFill>
              <a:srgbClr val="1A3C2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05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EXPANSION STRATEGY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463040"/>
            <a:ext cx="3474720" cy="27432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72768"/>
            <a:ext cx="3749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Upon successful validation of the one-year pilot, the Green Shield model expands to similar village clusters across India.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follows a phased, voluntary approach — respecting local cultural context while maintaining framework integrity.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ultimate goal: a scalable, replicable model for long-term community resilience across multiple regions.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914400"/>
            <a:ext cx="4114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36592" y="1051560"/>
            <a:ext cx="502920" cy="502920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36592" y="1051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349240" y="10058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Pilot Validation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49240" y="133502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Village · Year 1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46520" y="1719072"/>
            <a:ext cx="457200" cy="137160"/>
          </a:xfrm>
          <a:prstGeom prst="rect">
            <a:avLst/>
          </a:prstGeom>
          <a:solidFill>
            <a:srgbClr val="E9881D">
              <a:alpha val="60000"/>
            </a:srgbClr>
          </a:solidFill>
          <a:ln w="12700">
            <a:solidFill>
              <a:srgbClr val="E9881D">
                <a:alpha val="6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3440" y="1874520"/>
            <a:ext cx="4114800" cy="777240"/>
          </a:xfrm>
          <a:prstGeom prst="rect">
            <a:avLst/>
          </a:prstGeom>
          <a:solidFill>
            <a:srgbClr val="1A3C2B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36592" y="2011680"/>
            <a:ext cx="502920" cy="502920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36592" y="2011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49240" y="19659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Cluster Expansion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49240" y="229514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5–10 Villages · Year 2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2679192"/>
            <a:ext cx="457200" cy="137160"/>
          </a:xfrm>
          <a:prstGeom prst="rect">
            <a:avLst/>
          </a:prstGeom>
          <a:solidFill>
            <a:srgbClr val="E9881D">
              <a:alpha val="60000"/>
            </a:srgbClr>
          </a:solidFill>
          <a:ln w="12700">
            <a:solidFill>
              <a:srgbClr val="E9881D">
                <a:alpha val="6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63440" y="2834640"/>
            <a:ext cx="4114800" cy="7772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36592" y="2971800"/>
            <a:ext cx="502920" cy="502920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29718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49240" y="29260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Regional Rollout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49240" y="325526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Level · Year 3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46520" y="3639312"/>
            <a:ext cx="457200" cy="137160"/>
          </a:xfrm>
          <a:prstGeom prst="rect">
            <a:avLst/>
          </a:prstGeom>
          <a:solidFill>
            <a:srgbClr val="E9881D">
              <a:alpha val="60000"/>
            </a:srgbClr>
          </a:solidFill>
          <a:ln w="12700">
            <a:solidFill>
              <a:srgbClr val="E9881D">
                <a:alpha val="6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794760"/>
            <a:ext cx="4114800" cy="777240"/>
          </a:xfrm>
          <a:prstGeom prst="rect">
            <a:avLst/>
          </a:prstGeom>
          <a:solidFill>
            <a:srgbClr val="1A3C2B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36592" y="3931920"/>
            <a:ext cx="502920" cy="502920"/>
          </a:xfrm>
          <a:prstGeom prst="ellipse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3C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49240" y="38862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National Framework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49240" y="4215384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Integration · Year 4+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20040" y="4736592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7C7C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Voluntary participation · Phased adoption · Cultural integrity preserved at every stage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2743200"/>
            <a:ext cx="4114800" cy="4114800"/>
          </a:xfrm>
          <a:prstGeom prst="ellipse">
            <a:avLst/>
          </a:prstGeom>
          <a:solidFill>
            <a:srgbClr val="2D6A4F">
              <a:alpha val="40000"/>
            </a:srgbClr>
          </a:solidFill>
          <a:ln w="12700">
            <a:solidFill>
              <a:srgbClr val="2D6A4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4114800" cy="4114800"/>
          </a:xfrm>
          <a:prstGeom prst="ellipse">
            <a:avLst/>
          </a:prstGeom>
          <a:solidFill>
            <a:srgbClr val="52B788">
              <a:alpha val="25000"/>
            </a:srgbClr>
          </a:solidFill>
          <a:ln w="12700">
            <a:solidFill>
              <a:srgbClr val="52B788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60000"/>
          </a:blip>
          <a:stretch>
            <a:fillRect/>
          </a:stretch>
        </p:blipFill>
        <p:spPr>
          <a:xfrm>
            <a:off x="7589520" y="3200400"/>
            <a:ext cx="1097280" cy="10972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572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spc="600" kern="0" dirty="0">
                <a:solidFill>
                  <a:srgbClr val="F4C4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457200" y="1051560"/>
            <a:ext cx="5029200" cy="45720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2344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Green Shield Smart People Initiative presents a structured, pilot-ready model for integrating Sanatani knowledge systems into modern rural development.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286000"/>
            <a:ext cx="777240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04872"/>
            <a:ext cx="310896" cy="31089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0584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cultural continuity with measurable, verifiable development outcomes.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57200" y="2944368"/>
            <a:ext cx="777240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63240"/>
            <a:ext cx="310896" cy="31089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303580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Offers a scalable, replicable framework for long-term community resilience.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457200" y="3602736"/>
            <a:ext cx="7772400" cy="548640"/>
          </a:xfrm>
          <a:prstGeom prst="rect">
            <a:avLst/>
          </a:prstGeom>
          <a:solidFill>
            <a:srgbClr val="2D6A4F"/>
          </a:solidFill>
          <a:ln w="12700">
            <a:solidFill>
              <a:srgbClr val="52B788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3721608"/>
            <a:ext cx="310896" cy="310896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005840" y="3694176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AF6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traditional wisdom as a competitive advantage in modern policy.</a:t>
            </a:r>
            <a:endParaRPr lang="en-US" sz="1250" dirty="0"/>
          </a:p>
        </p:txBody>
      </p:sp>
      <p:sp>
        <p:nvSpPr>
          <p:cNvPr id="18" name="Shape 12"/>
          <p:cNvSpPr/>
          <p:nvPr/>
        </p:nvSpPr>
        <p:spPr>
          <a:xfrm>
            <a:off x="457200" y="4224528"/>
            <a:ext cx="8229600" cy="658368"/>
          </a:xfrm>
          <a:prstGeom prst="rect">
            <a:avLst/>
          </a:prstGeom>
          <a:solidFill>
            <a:srgbClr val="E9881D"/>
          </a:solidFill>
          <a:ln w="12700">
            <a:solidFill>
              <a:srgbClr val="E9881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3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361688"/>
            <a:ext cx="347472" cy="34747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051560" y="427939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STEP: </a:t>
            </a:r>
            <a:pPr indent="0" marL="0">
              <a:buNone/>
            </a:pPr>
            <a:r>
              <a:rPr lang="en-US" sz="1300" dirty="0">
                <a:solidFill>
                  <a:srgbClr val="1A3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the one-year pilot to validate this framework and build the evidence base for national adoption.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 Shield Smart People Initiative</dc:title>
  <dc:subject>PptxGenJS Presentation</dc:subject>
  <dc:creator>Kallol Chakrabarti</dc:creator>
  <cp:lastModifiedBy>Kallol Chakrabarti</cp:lastModifiedBy>
  <cp:revision>1</cp:revision>
  <dcterms:created xsi:type="dcterms:W3CDTF">2026-03-30T13:43:51Z</dcterms:created>
  <dcterms:modified xsi:type="dcterms:W3CDTF">2026-03-30T13:43:51Z</dcterms:modified>
</cp:coreProperties>
</file>